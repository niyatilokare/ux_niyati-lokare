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2849" y="63849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>
                <a:solidFill>
                  <a:srgbClr val="6D5EF4"/>
                </a:solidFill>
                <a:latin typeface="Inter"/>
              </a:rPr>
              <a:t>01 · PROBLEM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849" y="1036753"/>
            <a:ext cx="1139014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dirty="0">
                <a:solidFill>
                  <a:srgbClr val="111827"/>
                </a:solidFill>
                <a:latin typeface="Inter"/>
              </a:rPr>
              <a:t>Skills Are Invisible Until They Become a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Skills Intelligence Platform · 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1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572000" cy="2743200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5376" y="202973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100" b="1" dirty="0">
                <a:solidFill>
                  <a:srgbClr val="6D5EF4"/>
                </a:solidFill>
                <a:latin typeface="Inter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772" y="2425974"/>
            <a:ext cx="431174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dirty="0">
                <a:solidFill>
                  <a:srgbClr val="111827"/>
                </a:solidFill>
                <a:latin typeface="Inter"/>
              </a:rPr>
              <a:t>Organizations cannot make effective upskilling and workforce planning decisions because skills data is fragmented, outdated and difficult to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783080"/>
            <a:ext cx="5790895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33872" y="1901952"/>
            <a:ext cx="256032" cy="25603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3872" y="190195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837944"/>
            <a:ext cx="50593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Skills evolve rapidly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039112"/>
            <a:ext cx="50593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Capabilities shift faster than systems can track.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336292"/>
            <a:ext cx="5790895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33872" y="2455164"/>
            <a:ext cx="256032" cy="25603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24551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91156"/>
            <a:ext cx="50593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Skill naming is inconsistent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592324"/>
            <a:ext cx="50593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The same skill is labelled many ways.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889504"/>
            <a:ext cx="5790895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33872" y="3008376"/>
            <a:ext cx="256032" cy="25603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33872" y="300837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944368"/>
            <a:ext cx="50593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Validation is difficult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145536"/>
            <a:ext cx="50593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Self-reported skills lack verification.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442716"/>
            <a:ext cx="5790895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33872" y="3561588"/>
            <a:ext cx="256032" cy="25603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33872" y="35615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497580"/>
            <a:ext cx="50593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Profiles become outdated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698748"/>
            <a:ext cx="50593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Employee data decays within months.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3995928"/>
            <a:ext cx="5790895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33872" y="4114800"/>
            <a:ext cx="256032" cy="256032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33872" y="41148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4050792"/>
            <a:ext cx="50593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Decisions become reactive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251960"/>
            <a:ext cx="50593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Gaps surface only after they hurt.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Inter"/>
              </a:rPr>
              <a:t>WHERE VISIBILITY BREAKS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120640"/>
            <a:ext cx="2240280" cy="713232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2852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Inter"/>
              </a:rPr>
              <a:t>Employees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0978" y="5120640"/>
            <a:ext cx="2240280" cy="713232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0978" y="52852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Inter"/>
              </a:rPr>
              <a:t>Skills Data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5417210" y="5212080"/>
            <a:ext cx="274320" cy="27432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90436" y="5120640"/>
            <a:ext cx="2240280" cy="713232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90436" y="52852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Inter"/>
              </a:rPr>
              <a:t>HR Teams</a:t>
            </a:r>
          </a:p>
        </p:txBody>
      </p:sp>
      <p:sp>
        <p:nvSpPr>
          <p:cNvPr id="43" name="Isosceles Triangle 42"/>
          <p:cNvSpPr/>
          <p:nvPr/>
        </p:nvSpPr>
        <p:spPr>
          <a:xfrm>
            <a:off x="8246668" y="5212080"/>
            <a:ext cx="274320" cy="27432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219894" y="5120640"/>
            <a:ext cx="2240280" cy="713232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19894" y="52852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Inter"/>
              </a:rPr>
              <a:t>Business Decisions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71800" y="5477256"/>
            <a:ext cx="589178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01258" y="5477256"/>
            <a:ext cx="589178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30716" y="5477256"/>
            <a:ext cx="589178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02 · USER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827"/>
                </a:solidFill>
                <a:latin typeface="Inter"/>
              </a:rPr>
              <a:t>Who Experiences The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Skills Intelligence Platform · 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2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5EF4"/>
                </a:solidFill>
                <a:latin typeface="Inter"/>
              </a:rPr>
              <a:t>HRBP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842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Inter"/>
              </a:rPr>
              <a:t>HR Business Partner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70632"/>
            <a:ext cx="2834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9864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2C55E"/>
                </a:solidFill>
                <a:latin typeface="Inter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1810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Inter"/>
              </a:rPr>
              <a:t>Understand workforce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753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F4444"/>
                </a:solidFill>
                <a:latin typeface="Inter"/>
              </a:rPr>
              <a:t>PAIN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Inter"/>
              </a:rPr>
              <a:t>No visibility into actual capabilities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4207" y="1691640"/>
            <a:ext cx="3383280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87087" y="1920240"/>
            <a:ext cx="640080" cy="6400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7087" y="2075688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5EF4"/>
                </a:solidFill>
                <a:latin typeface="Inter"/>
              </a:rPr>
              <a:t>L&amp;D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4327" y="19842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Inter"/>
              </a:rPr>
              <a:t>L&amp;D 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8527" y="2770632"/>
            <a:ext cx="2834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8527" y="289864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2C55E"/>
                </a:solidFill>
                <a:latin typeface="Inter"/>
              </a:rPr>
              <a:t>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8527" y="311810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Inter"/>
              </a:rPr>
              <a:t>Create targeted learning plans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8527" y="35753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F4444"/>
                </a:solidFill>
                <a:latin typeface="Inter"/>
              </a:rPr>
              <a:t>PAIN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8527" y="37947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Inter"/>
              </a:rPr>
              <a:t>Cannot identify learning priorities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6894" y="1691640"/>
            <a:ext cx="3383280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59774" y="1920240"/>
            <a:ext cx="640080" cy="6400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9774" y="2075688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5EF4"/>
                </a:solidFill>
                <a:latin typeface="Inter"/>
              </a:rPr>
              <a:t>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7014" y="19842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Inter"/>
              </a:rPr>
              <a:t>VP Talent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1214" y="2770632"/>
            <a:ext cx="2834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51214" y="289864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2C55E"/>
                </a:solidFill>
                <a:latin typeface="Inter"/>
              </a:rPr>
              <a:t>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214" y="311810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Inter"/>
              </a:rPr>
              <a:t>Plan future workforce capability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214" y="35753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F4444"/>
                </a:solidFill>
                <a:latin typeface="Inter"/>
              </a:rPr>
              <a:t>PAIN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1214" y="37947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Inter"/>
              </a:rPr>
              <a:t>Skills data cannot be trusted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34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KEY INSIGHTS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754880"/>
            <a:ext cx="3383280" cy="1325880"/>
          </a:xfrm>
          <a:prstGeom prst="roundRect">
            <a:avLst>
              <a:gd name="adj" fmla="val 9000"/>
            </a:avLst>
          </a:prstGeom>
          <a:solidFill>
            <a:srgbClr val="FA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9560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6D5EF4"/>
                </a:solidFill>
                <a:latin typeface="Inter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1324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Inter"/>
              </a:rPr>
              <a:t>Most decisions are based on assumptions instead of verified skills.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4207" y="4754880"/>
            <a:ext cx="3383280" cy="1325880"/>
          </a:xfrm>
          <a:prstGeom prst="roundRect">
            <a:avLst>
              <a:gd name="adj" fmla="val 9000"/>
            </a:avLst>
          </a:prstGeom>
          <a:solidFill>
            <a:srgbClr val="FA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78527" y="49560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6D5EF4"/>
                </a:solidFill>
                <a:latin typeface="Inter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8527" y="541324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Inter"/>
              </a:rPr>
              <a:t>Critical skill gaps are discovered too late.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76894" y="4754880"/>
            <a:ext cx="3383280" cy="1325880"/>
          </a:xfrm>
          <a:prstGeom prst="roundRect">
            <a:avLst>
              <a:gd name="adj" fmla="val 9000"/>
            </a:avLst>
          </a:prstGeom>
          <a:solidFill>
            <a:srgbClr val="FA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51214" y="49560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6D5EF4"/>
                </a:solidFill>
                <a:latin typeface="Inter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1214" y="541324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Inter"/>
              </a:rPr>
              <a:t>Managers spend excessive time gathering data from multiple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03 ·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827"/>
                </a:solidFill>
                <a:latin typeface="Inter"/>
              </a:rPr>
              <a:t>How Might We Make Skills Data Decision-Ready?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Skills Intelligence Platform · 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3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52447" y="1691640"/>
            <a:ext cx="8686800" cy="1371600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01087" y="1874519"/>
            <a:ext cx="75895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6D5EF4"/>
                </a:solidFill>
                <a:latin typeface="Inter"/>
              </a:rPr>
              <a:t>“How might we help HR leaders instantly understand skill health, workforce readiness and future gaps?”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38328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3383280" cy="73152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7307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9651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11827"/>
                </a:solidFill>
                <a:latin typeface="Inter"/>
              </a:rPr>
              <a:t>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537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Inter"/>
              </a:rPr>
              <a:t>Make skills transparent across the organization.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4207" y="3383280"/>
            <a:ext cx="338328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4207" y="3383280"/>
            <a:ext cx="3383280" cy="73152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4247" y="37307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409651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11827"/>
                </a:solidFill>
                <a:latin typeface="Inter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247" y="45537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Inter"/>
              </a:rPr>
              <a:t>Improve skill validation and confidence.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6894" y="3383280"/>
            <a:ext cx="338328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6894" y="3383280"/>
            <a:ext cx="3383280" cy="73152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6934" y="37307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6934" y="409651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11827"/>
                </a:solidFill>
                <a:latin typeface="Inter"/>
              </a:rPr>
              <a:t>Actionability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934" y="45537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Inter"/>
              </a:rPr>
              <a:t>Convert insights into clear recommendations.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80"/>
            <a:ext cx="2331720" cy="640080"/>
          </a:xfrm>
          <a:prstGeom prst="roundRect">
            <a:avLst>
              <a:gd name="adj" fmla="val 9000"/>
            </a:avLst>
          </a:prstGeom>
          <a:solidFill>
            <a:srgbClr val="FA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58698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Raw Skills 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63240" y="5760720"/>
            <a:ext cx="467258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30498" y="5440680"/>
            <a:ext cx="2331720" cy="640080"/>
          </a:xfrm>
          <a:prstGeom prst="roundRect">
            <a:avLst>
              <a:gd name="adj" fmla="val 9000"/>
            </a:avLst>
          </a:prstGeom>
          <a:solidFill>
            <a:srgbClr val="FA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30498" y="558698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Insights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62218" y="5760720"/>
            <a:ext cx="467258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29476" y="5440680"/>
            <a:ext cx="2331720" cy="640080"/>
          </a:xfrm>
          <a:prstGeom prst="roundRect">
            <a:avLst>
              <a:gd name="adj" fmla="val 9000"/>
            </a:avLst>
          </a:prstGeom>
          <a:solidFill>
            <a:srgbClr val="FA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9476" y="558698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Inter"/>
              </a:rPr>
              <a:t>Actions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61196" y="5760720"/>
            <a:ext cx="467258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128454" y="5440680"/>
            <a:ext cx="2331720" cy="640080"/>
          </a:xfrm>
          <a:prstGeom prst="roundRect">
            <a:avLst>
              <a:gd name="adj" fmla="val 9000"/>
            </a:avLst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28454" y="558698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Business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04 · 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827"/>
                </a:solidFill>
                <a:latin typeface="Inter"/>
              </a:rPr>
              <a:t>Designing The Skills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Skills Intelligence Platform · 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4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023360" cy="566928"/>
          </a:xfrm>
          <a:prstGeom prst="roundRect">
            <a:avLst>
              <a:gd name="adj" fmla="val 9000"/>
            </a:avLst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Skills Intelligence Hub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258568"/>
            <a:ext cx="0" cy="128016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386584"/>
            <a:ext cx="4023360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578608"/>
            <a:ext cx="146304" cy="146304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386584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Overview 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916936"/>
            <a:ext cx="0" cy="128016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044952"/>
            <a:ext cx="4023360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36976"/>
            <a:ext cx="146304" cy="146304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04495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Skills Inventory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3575304"/>
            <a:ext cx="0" cy="128016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3703320"/>
            <a:ext cx="4023360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3895344"/>
            <a:ext cx="146304" cy="146304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370332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Skill Gap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4233672"/>
            <a:ext cx="0" cy="128016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4361688"/>
            <a:ext cx="4023360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4553712"/>
            <a:ext cx="146304" cy="146304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4361688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Employee Profiles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4892040"/>
            <a:ext cx="0" cy="128016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1520" y="5020056"/>
            <a:ext cx="4023360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0976" y="5212080"/>
            <a:ext cx="146304" cy="146304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5020056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Team Insights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5550408"/>
            <a:ext cx="0" cy="128016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5678424"/>
            <a:ext cx="4023360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50976" y="5870448"/>
            <a:ext cx="146304" cy="146304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80160" y="5678424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Learning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1691640"/>
            <a:ext cx="6065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WHY EACH MODULE EXISTS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2057400"/>
            <a:ext cx="606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Overview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295144"/>
            <a:ext cx="606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Inter"/>
              </a:rPr>
              <a:t>A single snapshot of organizational skill health.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642616"/>
            <a:ext cx="606521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94960" y="2734056"/>
            <a:ext cx="606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Skills Inventory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971800"/>
            <a:ext cx="606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Inter"/>
              </a:rPr>
              <a:t>A living catalogue of every skill across the workforce.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3319272"/>
            <a:ext cx="606521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94960" y="3410712"/>
            <a:ext cx="606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Skill Gap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648456"/>
            <a:ext cx="606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Inter"/>
              </a:rPr>
              <a:t>Surfaces shortages against current and future needs.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995928"/>
            <a:ext cx="606521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94960" y="4087368"/>
            <a:ext cx="606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Employee Profiles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325112"/>
            <a:ext cx="606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Inter"/>
              </a:rPr>
              <a:t>Verified, up-to-date capability records per person.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4672584"/>
            <a:ext cx="606521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94960" y="4764024"/>
            <a:ext cx="606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Team Insights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001768"/>
            <a:ext cx="606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Inter"/>
              </a:rPr>
              <a:t>Compares readiness and gaps across departments.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60" y="5349240"/>
            <a:ext cx="606521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94960" y="5440680"/>
            <a:ext cx="606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11827"/>
                </a:solidFill>
                <a:latin typeface="Inter"/>
              </a:rPr>
              <a:t>Learning Recommendations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5678424"/>
            <a:ext cx="606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Inter"/>
              </a:rPr>
              <a:t>Turns gaps into targeted, assignable learning paths.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05 · CORE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827"/>
                </a:solidFill>
                <a:latin typeface="Inter"/>
              </a:rPr>
              <a:t>Skills Intelligence Hub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Skills Intelligence Platform · 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5 /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1554480"/>
            <a:ext cx="26819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6 KEY AREAS</a:t>
            </a:r>
          </a:p>
        </p:txBody>
      </p:sp>
      <p:sp>
        <p:nvSpPr>
          <p:cNvPr id="55" name="Oval 54"/>
          <p:cNvSpPr/>
          <p:nvPr/>
        </p:nvSpPr>
        <p:spPr>
          <a:xfrm>
            <a:off x="8787384" y="1956816"/>
            <a:ext cx="164592" cy="164592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8280" y="1920240"/>
            <a:ext cx="23161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11827"/>
                </a:solidFill>
                <a:latin typeface="Inter"/>
              </a:rPr>
              <a:t>Workforce Readiness Score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2157984"/>
            <a:ext cx="2316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Track overall preparedness at a glance</a:t>
            </a:r>
          </a:p>
        </p:txBody>
      </p:sp>
      <p:sp>
        <p:nvSpPr>
          <p:cNvPr id="58" name="Oval 57"/>
          <p:cNvSpPr/>
          <p:nvPr/>
        </p:nvSpPr>
        <p:spPr>
          <a:xfrm>
            <a:off x="8787384" y="2633472"/>
            <a:ext cx="164592" cy="164592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98280" y="2596896"/>
            <a:ext cx="23161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11827"/>
                </a:solidFill>
                <a:latin typeface="Inter"/>
              </a:rPr>
              <a:t>Critical Skill Gaps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2834640"/>
            <a:ext cx="2316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Prioritize hiring or upskilling</a:t>
            </a:r>
          </a:p>
        </p:txBody>
      </p:sp>
      <p:sp>
        <p:nvSpPr>
          <p:cNvPr id="61" name="Oval 60"/>
          <p:cNvSpPr/>
          <p:nvPr/>
        </p:nvSpPr>
        <p:spPr>
          <a:xfrm>
            <a:off x="8787384" y="3310128"/>
            <a:ext cx="164592" cy="164592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98280" y="3273552"/>
            <a:ext cx="23161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11827"/>
                </a:solidFill>
                <a:latin typeface="Inter"/>
              </a:rPr>
              <a:t>Skill Health Distribution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3511296"/>
            <a:ext cx="2316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Spot risk concentration early</a:t>
            </a:r>
          </a:p>
        </p:txBody>
      </p:sp>
      <p:sp>
        <p:nvSpPr>
          <p:cNvPr id="64" name="Oval 63"/>
          <p:cNvSpPr/>
          <p:nvPr/>
        </p:nvSpPr>
        <p:spPr>
          <a:xfrm>
            <a:off x="8787384" y="3986784"/>
            <a:ext cx="164592" cy="164592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098280" y="3950208"/>
            <a:ext cx="23161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11827"/>
                </a:solidFill>
                <a:latin typeface="Inter"/>
              </a:rPr>
              <a:t>Emerging Skills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98280" y="4187952"/>
            <a:ext cx="2316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Invest ahead of demand</a:t>
            </a:r>
          </a:p>
        </p:txBody>
      </p:sp>
      <p:sp>
        <p:nvSpPr>
          <p:cNvPr id="67" name="Oval 66"/>
          <p:cNvSpPr/>
          <p:nvPr/>
        </p:nvSpPr>
        <p:spPr>
          <a:xfrm>
            <a:off x="8787384" y="4663440"/>
            <a:ext cx="164592" cy="164592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098280" y="4626864"/>
            <a:ext cx="23161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11827"/>
                </a:solidFill>
                <a:latin typeface="Inter"/>
              </a:rPr>
              <a:t>Department Readiness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4864608"/>
            <a:ext cx="2316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Target the weakest teams first</a:t>
            </a:r>
          </a:p>
        </p:txBody>
      </p:sp>
      <p:sp>
        <p:nvSpPr>
          <p:cNvPr id="70" name="Oval 69"/>
          <p:cNvSpPr/>
          <p:nvPr/>
        </p:nvSpPr>
        <p:spPr>
          <a:xfrm>
            <a:off x="8787384" y="5340096"/>
            <a:ext cx="164592" cy="164592"/>
          </a:xfrm>
          <a:prstGeom prst="ellipse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98280" y="5303520"/>
            <a:ext cx="23161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11827"/>
                </a:solidFill>
                <a:latin typeface="Inter"/>
              </a:rPr>
              <a:t>Recommended Actions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8280" y="5541264"/>
            <a:ext cx="2316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Inter"/>
              </a:rPr>
              <a:t>Move from insight to execution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D113289D-6192-C983-EF1A-09AA52FC7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417320"/>
            <a:ext cx="69951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06 · DECISION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827"/>
                </a:solidFill>
                <a:latin typeface="Inter"/>
              </a:rPr>
              <a:t>From Insight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Skills Intelligence Platform · 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6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6276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627632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16736" y="2194560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768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D5EF4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11827"/>
                </a:solidFill>
                <a:latin typeface="Inter"/>
              </a:rPr>
              <a:t>Skill Gap Detected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9152" y="2651760"/>
            <a:ext cx="192572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51724" y="1965960"/>
            <a:ext cx="16276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51724" y="1965960"/>
            <a:ext cx="162763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136940" y="2194560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51724" y="22768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D5EF4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3164" y="274320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11827"/>
                </a:solidFill>
                <a:latin typeface="Inter"/>
              </a:rPr>
              <a:t>GenAI shortage identified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79356" y="2651760"/>
            <a:ext cx="192572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1928" y="1965960"/>
            <a:ext cx="16276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71928" y="1965960"/>
            <a:ext cx="162763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57144" y="2194560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71928" y="22768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D5EF4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3368" y="274320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11827"/>
                </a:solidFill>
                <a:latin typeface="Inter"/>
              </a:rPr>
              <a:t>Affected teams highlighted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99560" y="2651760"/>
            <a:ext cx="192572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92132" y="1965960"/>
            <a:ext cx="16276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2132" y="1965960"/>
            <a:ext cx="1627632" cy="73152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777348" y="2194560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2132" y="22768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D5EF4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3572" y="274320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11827"/>
                </a:solidFill>
                <a:latin typeface="Inter"/>
              </a:rPr>
              <a:t>Employees recommended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19764" y="2651760"/>
            <a:ext cx="192572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12336" y="1965960"/>
            <a:ext cx="16276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12336" y="1965960"/>
            <a:ext cx="1627632" cy="73152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97552" y="2194560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12336" y="22768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D5EF4"/>
                </a:solidFill>
                <a:latin typeface="Inte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3776" y="274320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11827"/>
                </a:solidFill>
                <a:latin typeface="Inter"/>
              </a:rPr>
              <a:t>Learning path assigned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39968" y="2651760"/>
            <a:ext cx="192572" cy="0"/>
          </a:xfrm>
          <a:prstGeom prst="bentConnector3">
            <a:avLst/>
          </a:prstGeom>
          <a:ln w="22860">
            <a:solidFill>
              <a:srgbClr val="6D5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2540" y="1965960"/>
            <a:ext cx="16276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832540" y="1965960"/>
            <a:ext cx="1627632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417756" y="2194560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32540" y="22768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D5EF4"/>
                </a:solidFill>
                <a:latin typeface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3980" y="274320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11827"/>
                </a:solidFill>
                <a:latin typeface="Inter"/>
              </a:rPr>
              <a:t>Readiness score improves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886200"/>
            <a:ext cx="5135727" cy="2011680"/>
          </a:xfrm>
          <a:prstGeom prst="roundRect">
            <a:avLst>
              <a:gd name="adj" fmla="val 9000"/>
            </a:avLst>
          </a:prstGeom>
          <a:solidFill>
            <a:srgbClr val="FA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51560" y="41605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100" b="1">
                <a:solidFill>
                  <a:srgbClr val="EF4444"/>
                </a:solidFill>
                <a:latin typeface="Inter"/>
              </a:rPr>
              <a:t>BEFORE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F4444"/>
                </a:solidFill>
                <a:latin typeface="Inter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4754880"/>
            <a:ext cx="4038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11827"/>
                </a:solidFill>
                <a:latin typeface="Inter"/>
              </a:rPr>
              <a:t>Reactive decisions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51389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F4444"/>
                </a:solidFill>
                <a:latin typeface="Inter"/>
              </a:rPr>
              <a:t>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5138928"/>
            <a:ext cx="4038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11827"/>
                </a:solidFill>
                <a:latin typeface="Inter"/>
              </a:rPr>
              <a:t>Manual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52297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F4444"/>
                </a:solidFill>
                <a:latin typeface="Inter"/>
              </a:rPr>
              <a:t>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5522976"/>
            <a:ext cx="4038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11827"/>
                </a:solidFill>
                <a:latin typeface="Inter"/>
              </a:rPr>
              <a:t>Unclear priorities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24447" y="3886200"/>
            <a:ext cx="5135727" cy="2011680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644487" y="4160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100" b="1">
                <a:solidFill>
                  <a:srgbClr val="22C55E"/>
                </a:solidFill>
                <a:latin typeface="Inter"/>
              </a:rPr>
              <a:t>AFTER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0207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1687" y="4754880"/>
            <a:ext cx="4038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Inter"/>
              </a:rPr>
              <a:t>Data-driven decisions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0207" y="51389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1687" y="5138928"/>
            <a:ext cx="4038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Inter"/>
              </a:rPr>
              <a:t>Instant visibility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0207" y="552297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01687" y="5522976"/>
            <a:ext cx="4038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Inter"/>
              </a:rPr>
              <a:t>Targeted interventions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D5EF4"/>
                </a:solidFill>
                <a:latin typeface="Inter"/>
              </a:rPr>
              <a:t>07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827"/>
                </a:solidFill>
                <a:latin typeface="Inter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Skills Intelligence Platform · 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Inter"/>
              </a:rPr>
              <a:t>7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1460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1783080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6D5EF4"/>
                </a:solidFill>
                <a:latin typeface="Inter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803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Reduction in skill gap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identification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9538" y="1737360"/>
            <a:ext cx="251460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69538" y="1737360"/>
            <a:ext cx="73152" cy="1783080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3858" y="20116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6D5EF4"/>
                </a:solidFill>
                <a:latin typeface="Inter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2146" y="28803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Increase in skills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7556" y="1737360"/>
            <a:ext cx="251460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7556" y="1737360"/>
            <a:ext cx="73152" cy="1783080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1876" y="20116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6D5EF4"/>
                </a:solidFill>
                <a:latin typeface="Inter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164" y="28803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Improvement in workforce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readiness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5574" y="1737360"/>
            <a:ext cx="251460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45574" y="1737360"/>
            <a:ext cx="73152" cy="1783080"/>
          </a:xfrm>
          <a:prstGeom prst="rect">
            <a:avLst/>
          </a:prstGeom>
          <a:solidFill>
            <a:srgbClr val="6D5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9894" y="20116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6D5EF4"/>
                </a:solidFill>
                <a:latin typeface="Inter"/>
              </a:rPr>
              <a:t>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8182" y="28803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Increase in targeted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Inter"/>
              </a:rPr>
              <a:t>learning adoption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40480"/>
            <a:ext cx="10728655" cy="1417320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4096512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11827"/>
                </a:solidFill>
                <a:latin typeface="Inter"/>
              </a:rPr>
              <a:t>“The Skills Intelligence Hub transforms fragmented skills data into trusted, actionable intelligence that helps HR leaders make faster and more confident workforce decisions.”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5504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Inter"/>
              </a:rPr>
              <a:t>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258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9306" y="55504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Inter"/>
              </a:rPr>
              <a:t>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8996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3044" y="55504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Inter"/>
              </a:rPr>
              <a:t>Actionability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2734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6782" y="55504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Inter"/>
              </a:rPr>
              <a:t>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586</Words>
  <Application>Microsoft Office PowerPoint</Application>
  <PresentationFormat>Widescreen</PresentationFormat>
  <Paragraphs>169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Advait Kandalgaonkar</cp:lastModifiedBy>
  <cp:revision>2</cp:revision>
  <dcterms:created xsi:type="dcterms:W3CDTF">2013-01-27T09:14:16Z</dcterms:created>
  <dcterms:modified xsi:type="dcterms:W3CDTF">2026-06-10T10:09:20Z</dcterms:modified>
  <cp:category/>
</cp:coreProperties>
</file>